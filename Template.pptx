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7" r:id="rId2"/>
  </p:sldIdLst>
  <p:sldSz cx="12192000" cy="1625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224" y="-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660416"/>
            <a:ext cx="10363200" cy="5659496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8538164"/>
            <a:ext cx="9144000" cy="3924769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9E562-EC51-4C94-81AD-100460086AE6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42F86-DCC7-4EE1-AC24-8E75E9BD21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5078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9E562-EC51-4C94-81AD-100460086AE6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42F86-DCC7-4EE1-AC24-8E75E9BD21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2951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4052716"/>
            <a:ext cx="10515600" cy="6762043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0878731"/>
            <a:ext cx="10515600" cy="355599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9E562-EC51-4C94-81AD-100460086AE6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42F86-DCC7-4EE1-AC24-8E75E9BD21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5888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4327407"/>
            <a:ext cx="5181600" cy="103142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4327407"/>
            <a:ext cx="5181600" cy="103142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9E562-EC51-4C94-81AD-100460086AE6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42F86-DCC7-4EE1-AC24-8E75E9BD21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6248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65485"/>
            <a:ext cx="10515600" cy="314207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3984979"/>
            <a:ext cx="5157787" cy="1952977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5937956"/>
            <a:ext cx="5157787" cy="87338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3984979"/>
            <a:ext cx="5183188" cy="1952977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5937956"/>
            <a:ext cx="5183188" cy="87338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9E562-EC51-4C94-81AD-100460086AE6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42F86-DCC7-4EE1-AC24-8E75E9BD21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8023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9E562-EC51-4C94-81AD-100460086AE6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42F86-DCC7-4EE1-AC24-8E75E9BD21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923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9E562-EC51-4C94-81AD-100460086AE6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42F86-DCC7-4EE1-AC24-8E75E9BD21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396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083733"/>
            <a:ext cx="3932237" cy="3793067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2340567"/>
            <a:ext cx="6172200" cy="11552296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76800"/>
            <a:ext cx="3932237" cy="9034875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9E562-EC51-4C94-81AD-100460086AE6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42F86-DCC7-4EE1-AC24-8E75E9BD21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042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083733"/>
            <a:ext cx="3932237" cy="3793067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2340567"/>
            <a:ext cx="6172200" cy="11552296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76800"/>
            <a:ext cx="3932237" cy="9034875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9E562-EC51-4C94-81AD-100460086AE6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42F86-DCC7-4EE1-AC24-8E75E9BD21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5291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9E562-EC51-4C94-81AD-100460086AE6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42F86-DCC7-4EE1-AC24-8E75E9BD21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5372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865481"/>
            <a:ext cx="2628900" cy="1377620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865481"/>
            <a:ext cx="7734300" cy="1377620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9E562-EC51-4C94-81AD-100460086AE6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42F86-DCC7-4EE1-AC24-8E75E9BD21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5980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865485"/>
            <a:ext cx="10515600" cy="3142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4327407"/>
            <a:ext cx="10515600" cy="10314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5066908"/>
            <a:ext cx="2743200" cy="8654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79E562-EC51-4C94-81AD-100460086AE6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5066908"/>
            <a:ext cx="4114800" cy="8654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5066908"/>
            <a:ext cx="2743200" cy="8654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542F86-DCC7-4EE1-AC24-8E75E9BD21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0057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219170" rtl="0" eaLnBrk="1" latinLnBrk="1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1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1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3DF85-33C5-1836-7DE3-EAC4095BD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그룹 163">
            <a:extLst>
              <a:ext uri="{FF2B5EF4-FFF2-40B4-BE49-F238E27FC236}">
                <a16:creationId xmlns:a16="http://schemas.microsoft.com/office/drawing/2014/main" id="{28AE8D83-D01A-A509-A2D7-1E355B9856FE}"/>
              </a:ext>
            </a:extLst>
          </p:cNvPr>
          <p:cNvGrpSpPr/>
          <p:nvPr/>
        </p:nvGrpSpPr>
        <p:grpSpPr>
          <a:xfrm>
            <a:off x="192000" y="901700"/>
            <a:ext cx="11808000" cy="1440000"/>
            <a:chOff x="190500" y="190500"/>
            <a:chExt cx="11811000" cy="800100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FE1A137-BE89-8198-DF8D-75AC42FD5445}"/>
                </a:ext>
              </a:extLst>
            </p:cNvPr>
            <p:cNvSpPr/>
            <p:nvPr/>
          </p:nvSpPr>
          <p:spPr>
            <a:xfrm>
              <a:off x="190500" y="190500"/>
              <a:ext cx="11811000" cy="800100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000000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312AFBC5-919A-0E26-BC3D-9420F73E874F}"/>
                </a:ext>
              </a:extLst>
            </p:cNvPr>
            <p:cNvSpPr/>
            <p:nvPr/>
          </p:nvSpPr>
          <p:spPr>
            <a:xfrm>
              <a:off x="7296150" y="190500"/>
              <a:ext cx="12700" cy="800100"/>
            </a:xfrm>
            <a:prstGeom prst="rect">
              <a:avLst/>
            </a:prstGeom>
            <a:solidFill>
              <a:srgbClr val="000000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6F2C4599-274F-E5E1-570B-4BD86902A21D}"/>
              </a:ext>
            </a:extLst>
          </p:cNvPr>
          <p:cNvSpPr txBox="1"/>
          <p:nvPr/>
        </p:nvSpPr>
        <p:spPr>
          <a:xfrm>
            <a:off x="381000" y="99060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2026.   9.   7.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2149838-0376-60BC-A3D0-ABFD668BC9B9}"/>
              </a:ext>
            </a:extLst>
          </p:cNvPr>
          <p:cNvSpPr txBox="1"/>
          <p:nvPr/>
        </p:nvSpPr>
        <p:spPr>
          <a:xfrm>
            <a:off x="1686011" y="1422400"/>
            <a:ext cx="5092706" cy="461665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수업태도 및 행동관찰부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[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상담조사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]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0ABD7BA-0C72-D76C-352A-A396017EDD88}"/>
              </a:ext>
            </a:extLst>
          </p:cNvPr>
          <p:cNvSpPr txBox="1"/>
          <p:nvPr/>
        </p:nvSpPr>
        <p:spPr>
          <a:xfrm>
            <a:off x="7429500" y="953701"/>
            <a:ext cx="4508500" cy="276999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☐ 절도 ☐ 폭력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■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 법   ☐ 성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&amp;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딥페이크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   ☐ 중독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약물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도박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)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B6C2900-4BE1-EFE5-61EA-9503F4D15635}"/>
              </a:ext>
            </a:extLst>
          </p:cNvPr>
          <p:cNvSpPr txBox="1"/>
          <p:nvPr/>
        </p:nvSpPr>
        <p:spPr>
          <a:xfrm>
            <a:off x="7429500" y="1360101"/>
            <a:ext cx="2794000" cy="276999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☐ 인성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(                    )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15F13D8-B83C-EB08-93D9-3C371FE8F035}"/>
              </a:ext>
            </a:extLst>
          </p:cNvPr>
          <p:cNvSpPr txBox="1"/>
          <p:nvPr/>
        </p:nvSpPr>
        <p:spPr>
          <a:xfrm>
            <a:off x="10414000" y="1360101"/>
            <a:ext cx="1524000" cy="276999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강사명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김경숙</a:t>
            </a:r>
          </a:p>
        </p:txBody>
      </p:sp>
      <p:grpSp>
        <p:nvGrpSpPr>
          <p:cNvPr id="165" name="그룹 164">
            <a:extLst>
              <a:ext uri="{FF2B5EF4-FFF2-40B4-BE49-F238E27FC236}">
                <a16:creationId xmlns:a16="http://schemas.microsoft.com/office/drawing/2014/main" id="{FB69E74A-F1F7-8921-FC3F-BE1159781DD1}"/>
              </a:ext>
            </a:extLst>
          </p:cNvPr>
          <p:cNvGrpSpPr/>
          <p:nvPr/>
        </p:nvGrpSpPr>
        <p:grpSpPr>
          <a:xfrm>
            <a:off x="190500" y="2330450"/>
            <a:ext cx="11811000" cy="425450"/>
            <a:chOff x="190500" y="2279650"/>
            <a:chExt cx="11811000" cy="425450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368049C5-2556-4890-900C-EE022BEE1F8F}"/>
                </a:ext>
              </a:extLst>
            </p:cNvPr>
            <p:cNvSpPr txBox="1"/>
            <p:nvPr/>
          </p:nvSpPr>
          <p:spPr>
            <a:xfrm>
              <a:off x="7429500" y="2349500"/>
              <a:ext cx="4546600" cy="355600"/>
            </a:xfrm>
            <a:prstGeom prst="rect">
              <a:avLst/>
            </a:prstGeom>
            <a:noFill/>
          </p:spPr>
          <p:txBody>
            <a:bodyPr vertOverflow="overflow" vert="horz" wrap="square" rtlCol="0" anchor="ctr" anchorCtr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평가항목 점수기준
</a:t>
              </a: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: </a:t>
              </a:r>
              <a:r>
                <a:rPr kumimoji="0" lang="ko-KR" altLang="en-US" sz="10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매우양호</a:t>
              </a: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(5) </a:t>
              </a: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양호</a:t>
              </a: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(4) </a:t>
              </a: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보통</a:t>
              </a: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(3) </a:t>
              </a: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미흡</a:t>
              </a: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(2) </a:t>
              </a:r>
              <a:r>
                <a:rPr kumimoji="0" lang="ko-KR" altLang="en-US" sz="10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매우미흡</a:t>
              </a: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(1)</a:t>
              </a:r>
              <a:endPara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71419B7D-C818-40A8-959F-660457CAAC31}"/>
                </a:ext>
              </a:extLst>
            </p:cNvPr>
            <p:cNvSpPr/>
            <p:nvPr/>
          </p:nvSpPr>
          <p:spPr>
            <a:xfrm>
              <a:off x="190500" y="2279650"/>
              <a:ext cx="11811000" cy="12700"/>
            </a:xfrm>
            <a:prstGeom prst="rect">
              <a:avLst/>
            </a:prstGeom>
            <a:solidFill>
              <a:srgbClr val="000000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</p:grp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81B13E7-8BA9-99B9-2E4E-7B1FA02E55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0220726"/>
              </p:ext>
            </p:extLst>
          </p:nvPr>
        </p:nvGraphicFramePr>
        <p:xfrm>
          <a:off x="191250" y="3014187"/>
          <a:ext cx="11809500" cy="30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7">
                  <a:extLst>
                    <a:ext uri="{9D8B030D-6E8A-4147-A177-3AD203B41FA5}">
                      <a16:colId xmlns:a16="http://schemas.microsoft.com/office/drawing/2014/main" val="3678355894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3159038846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397578930"/>
                    </a:ext>
                  </a:extLst>
                </a:gridCol>
                <a:gridCol w="562358">
                  <a:extLst>
                    <a:ext uri="{9D8B030D-6E8A-4147-A177-3AD203B41FA5}">
                      <a16:colId xmlns:a16="http://schemas.microsoft.com/office/drawing/2014/main" val="2390880758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1234189224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3016427840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2009065295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3286586133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263817030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136267634"/>
                    </a:ext>
                  </a:extLst>
                </a:gridCol>
                <a:gridCol w="562358">
                  <a:extLst>
                    <a:ext uri="{9D8B030D-6E8A-4147-A177-3AD203B41FA5}">
                      <a16:colId xmlns:a16="http://schemas.microsoft.com/office/drawing/2014/main" val="3054047362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3787567326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1838538583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2396106417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38800709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4245658938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2043559936"/>
                    </a:ext>
                  </a:extLst>
                </a:gridCol>
                <a:gridCol w="562358">
                  <a:extLst>
                    <a:ext uri="{9D8B030D-6E8A-4147-A177-3AD203B41FA5}">
                      <a16:colId xmlns:a16="http://schemas.microsoft.com/office/drawing/2014/main" val="866486931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2294764149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1459479861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3239080584"/>
                    </a:ext>
                  </a:extLst>
                </a:gridCol>
              </a:tblGrid>
              <a:tr h="468000">
                <a:tc gridSpan="7"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{{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이름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}}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{{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이름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}}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{{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이름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}}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4509294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상점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발표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과제수행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자세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경청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예의범절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성실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상점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발표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과제수행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자세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경청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예의범절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성실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상점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발표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과제수행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자세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경청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예의범절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성실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17689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234188"/>
                  </a:ext>
                </a:extLst>
              </a:tr>
              <a:tr h="1800000">
                <a:tc gridSpan="7"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{{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내용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}}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144000" marR="144000" marT="144000" marB="144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marL="0" marR="0" lvl="0" indent="0" algn="l" defTabSz="12191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{{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내용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}}</a:t>
                      </a:r>
                      <a:endParaRPr lang="ko-KR" altLang="en-US" sz="11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algn="l" defTabSz="1219170" rtl="0" eaLnBrk="1" latinLnBrk="1" hangingPunct="1"/>
                      <a:endParaRPr lang="ko-KR" altLang="en-US" sz="11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44000" marR="144000" marT="144000" marB="144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marL="0" marR="0" lvl="0" indent="0" algn="l" defTabSz="12191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{{</a:t>
                      </a:r>
                      <a:r>
                        <a:rPr lang="ko-KR" altLang="en-US" sz="11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내용</a:t>
                      </a:r>
                      <a:r>
                        <a:rPr lang="en-US" altLang="ko-KR" sz="11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}}</a:t>
                      </a:r>
                      <a:endParaRPr lang="ko-KR" altLang="en-US" sz="11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algn="l" defTabSz="1219170" rtl="0" eaLnBrk="1" latinLnBrk="1" hangingPunct="1"/>
                      <a:endParaRPr lang="ko-KR" altLang="en-US" sz="11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44000" marR="144000" marT="144000" marB="144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7604724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5D300825-9395-F300-B0B1-915CF99D35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1581235"/>
              </p:ext>
            </p:extLst>
          </p:nvPr>
        </p:nvGraphicFramePr>
        <p:xfrm>
          <a:off x="191250" y="6229102"/>
          <a:ext cx="11809500" cy="30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7">
                  <a:extLst>
                    <a:ext uri="{9D8B030D-6E8A-4147-A177-3AD203B41FA5}">
                      <a16:colId xmlns:a16="http://schemas.microsoft.com/office/drawing/2014/main" val="3678355894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3159038846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397578930"/>
                    </a:ext>
                  </a:extLst>
                </a:gridCol>
                <a:gridCol w="562358">
                  <a:extLst>
                    <a:ext uri="{9D8B030D-6E8A-4147-A177-3AD203B41FA5}">
                      <a16:colId xmlns:a16="http://schemas.microsoft.com/office/drawing/2014/main" val="2390880758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1234189224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3016427840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2009065295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3286586133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263817030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136267634"/>
                    </a:ext>
                  </a:extLst>
                </a:gridCol>
                <a:gridCol w="562358">
                  <a:extLst>
                    <a:ext uri="{9D8B030D-6E8A-4147-A177-3AD203B41FA5}">
                      <a16:colId xmlns:a16="http://schemas.microsoft.com/office/drawing/2014/main" val="3054047362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3787567326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1838538583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2396106417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38800709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4245658938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2043559936"/>
                    </a:ext>
                  </a:extLst>
                </a:gridCol>
                <a:gridCol w="562358">
                  <a:extLst>
                    <a:ext uri="{9D8B030D-6E8A-4147-A177-3AD203B41FA5}">
                      <a16:colId xmlns:a16="http://schemas.microsoft.com/office/drawing/2014/main" val="866486931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2294764149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1459479861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3239080584"/>
                    </a:ext>
                  </a:extLst>
                </a:gridCol>
              </a:tblGrid>
              <a:tr h="468000">
                <a:tc gridSpan="7"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{{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이름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}}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{{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이름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}}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{{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이름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}}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4509294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상점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발표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과제수행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자세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경청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예의범절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성실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상점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발표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과제수행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자세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경청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예의범절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성실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상점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발표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과제수행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자세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경청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예의범절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성실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17689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234188"/>
                  </a:ext>
                </a:extLst>
              </a:tr>
              <a:tr h="1800000">
                <a:tc gridSpan="7"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{{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내용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}}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144000" marR="144000" marT="144000" marB="144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marL="0" marR="0" lvl="0" indent="0" algn="l" defTabSz="12191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{{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내용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}}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ko-KR" altLang="en-US" sz="1100" dirty="0"/>
                    </a:p>
                  </a:txBody>
                  <a:tcPr marL="144000" marR="144000" marT="144000" marB="144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marL="0" marR="0" lvl="0" indent="0" algn="l" defTabSz="12191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{{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내용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}}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ko-KR" altLang="en-US" sz="1100" dirty="0"/>
                    </a:p>
                  </a:txBody>
                  <a:tcPr marL="144000" marR="144000" marT="144000" marB="144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7604724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0C2441B5-0539-B59E-CD05-B24D9010EC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1477769"/>
              </p:ext>
            </p:extLst>
          </p:nvPr>
        </p:nvGraphicFramePr>
        <p:xfrm>
          <a:off x="191250" y="9444017"/>
          <a:ext cx="11809500" cy="30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7">
                  <a:extLst>
                    <a:ext uri="{9D8B030D-6E8A-4147-A177-3AD203B41FA5}">
                      <a16:colId xmlns:a16="http://schemas.microsoft.com/office/drawing/2014/main" val="3678355894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3159038846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397578930"/>
                    </a:ext>
                  </a:extLst>
                </a:gridCol>
                <a:gridCol w="562358">
                  <a:extLst>
                    <a:ext uri="{9D8B030D-6E8A-4147-A177-3AD203B41FA5}">
                      <a16:colId xmlns:a16="http://schemas.microsoft.com/office/drawing/2014/main" val="2390880758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1234189224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3016427840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2009065295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3286586133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263817030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136267634"/>
                    </a:ext>
                  </a:extLst>
                </a:gridCol>
                <a:gridCol w="562358">
                  <a:extLst>
                    <a:ext uri="{9D8B030D-6E8A-4147-A177-3AD203B41FA5}">
                      <a16:colId xmlns:a16="http://schemas.microsoft.com/office/drawing/2014/main" val="3054047362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3787567326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1838538583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2396106417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38800709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4245658938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2043559936"/>
                    </a:ext>
                  </a:extLst>
                </a:gridCol>
                <a:gridCol w="562358">
                  <a:extLst>
                    <a:ext uri="{9D8B030D-6E8A-4147-A177-3AD203B41FA5}">
                      <a16:colId xmlns:a16="http://schemas.microsoft.com/office/drawing/2014/main" val="866486931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2294764149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1459479861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3239080584"/>
                    </a:ext>
                  </a:extLst>
                </a:gridCol>
              </a:tblGrid>
              <a:tr h="468000">
                <a:tc gridSpan="7"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{{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이름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}}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{{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이름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}}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{{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이름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}}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4509294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상점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발표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과제수행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자세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경청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예의범절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성실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상점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발표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과제수행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자세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경청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예의범절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성실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상점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발표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과제수행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자세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경청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예의범절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성실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17689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234188"/>
                  </a:ext>
                </a:extLst>
              </a:tr>
              <a:tr h="1800000">
                <a:tc gridSpan="7"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{{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내용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}}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144000" marR="144000" marT="144000" marB="144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marL="0" marR="0" lvl="0" indent="0" algn="l" defTabSz="12191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{{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내용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}}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ko-KR" altLang="en-US" sz="1100" dirty="0"/>
                    </a:p>
                  </a:txBody>
                  <a:tcPr marL="144000" marR="144000" marT="144000" marB="144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marL="0" marR="0" lvl="0" indent="0" algn="l" defTabSz="12191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{{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내용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}}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ko-KR" altLang="en-US" sz="1100" dirty="0"/>
                    </a:p>
                  </a:txBody>
                  <a:tcPr marL="144000" marR="144000" marT="144000" marB="144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7604724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85223A0-B784-7976-D515-2EEAEBAEC1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1705134"/>
              </p:ext>
            </p:extLst>
          </p:nvPr>
        </p:nvGraphicFramePr>
        <p:xfrm>
          <a:off x="191250" y="12658932"/>
          <a:ext cx="11809500" cy="30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7">
                  <a:extLst>
                    <a:ext uri="{9D8B030D-6E8A-4147-A177-3AD203B41FA5}">
                      <a16:colId xmlns:a16="http://schemas.microsoft.com/office/drawing/2014/main" val="3678355894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3159038846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397578930"/>
                    </a:ext>
                  </a:extLst>
                </a:gridCol>
                <a:gridCol w="562358">
                  <a:extLst>
                    <a:ext uri="{9D8B030D-6E8A-4147-A177-3AD203B41FA5}">
                      <a16:colId xmlns:a16="http://schemas.microsoft.com/office/drawing/2014/main" val="2390880758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1234189224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3016427840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2009065295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3286586133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263817030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136267634"/>
                    </a:ext>
                  </a:extLst>
                </a:gridCol>
                <a:gridCol w="562358">
                  <a:extLst>
                    <a:ext uri="{9D8B030D-6E8A-4147-A177-3AD203B41FA5}">
                      <a16:colId xmlns:a16="http://schemas.microsoft.com/office/drawing/2014/main" val="3054047362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3787567326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1838538583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2396106417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38800709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4245658938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2043559936"/>
                    </a:ext>
                  </a:extLst>
                </a:gridCol>
                <a:gridCol w="562358">
                  <a:extLst>
                    <a:ext uri="{9D8B030D-6E8A-4147-A177-3AD203B41FA5}">
                      <a16:colId xmlns:a16="http://schemas.microsoft.com/office/drawing/2014/main" val="866486931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2294764149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1459479861"/>
                    </a:ext>
                  </a:extLst>
                </a:gridCol>
                <a:gridCol w="562357">
                  <a:extLst>
                    <a:ext uri="{9D8B030D-6E8A-4147-A177-3AD203B41FA5}">
                      <a16:colId xmlns:a16="http://schemas.microsoft.com/office/drawing/2014/main" val="3239080584"/>
                    </a:ext>
                  </a:extLst>
                </a:gridCol>
              </a:tblGrid>
              <a:tr h="468000">
                <a:tc gridSpan="7"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{{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이름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}}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{{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이름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}}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{{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이름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}}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4509294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상점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발표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과제수행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자세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경청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예의범절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성실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상점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발표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과제수행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자세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경청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예의범절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성실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상점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발표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과제수행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자세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경청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예의범절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100" baseline="0" dirty="0"/>
                        <a:t>성실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17689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234188"/>
                  </a:ext>
                </a:extLst>
              </a:tr>
              <a:tr h="1800000">
                <a:tc gridSpan="7"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{{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내용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}}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144000" marR="144000" marT="144000" marB="144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marL="0" marR="0" lvl="0" indent="0" algn="l" defTabSz="12191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{{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내용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}}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ko-KR" altLang="en-US" sz="1100" dirty="0"/>
                    </a:p>
                  </a:txBody>
                  <a:tcPr marL="144000" marR="144000" marT="144000" marB="144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marL="0" marR="0" lvl="0" indent="0" algn="l" defTabSz="12191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{{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내용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}}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ko-KR" altLang="en-US" sz="1100" dirty="0"/>
                    </a:p>
                  </a:txBody>
                  <a:tcPr marL="144000" marR="144000" marT="144000" marB="144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76047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7347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90FC3AB-0268-45EF-AE0B-CEBF50B55098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79e73022-936e-4817-9078-3698ad104bd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245</TotalTime>
  <Words>216</Words>
  <Application>Microsoft Office PowerPoint</Application>
  <PresentationFormat>사용자 지정</PresentationFormat>
  <Paragraphs>114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Aptos</vt:lpstr>
      <vt:lpstr>Aptos Display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sanghyun Sim</dc:creator>
  <cp:lastModifiedBy>sanghyun Sim</cp:lastModifiedBy>
  <cp:revision>43</cp:revision>
  <dcterms:created xsi:type="dcterms:W3CDTF">2026-07-20T11:13:27Z</dcterms:created>
  <dcterms:modified xsi:type="dcterms:W3CDTF">2026-09-17T00:29:51Z</dcterms:modified>
</cp:coreProperties>
</file>