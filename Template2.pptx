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1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2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23ADA-B302-7E4F-6B84-0AEC57036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05EE79-28DD-C97A-79CE-6DA95B9A1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365E13-8ADF-5E4C-0E4C-BAB709CF0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5E5C69-9785-86DC-6026-AC8DA47D4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008211-7F34-46FC-E62B-5BA158176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097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06E477-4D62-4BF1-1192-6B627E2A3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F7722C-1970-A4D1-B7B7-DEE44D5F9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935F24-67C9-A45E-1CF6-B461BA6F2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C72A57-8BAE-8149-2879-9554DBED6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4926EA-2D93-34EC-BDE9-1D6AD23E2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544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0FB56C-99AF-9D5B-26CF-106824D59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0FAE03-74AB-7864-0020-B3BD26F5A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DBDB07-8BA5-5B37-32B7-A7210CFE9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816FAA-CB83-5FEE-A1FB-FE79C2AF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A0E82A-836F-C8F0-3F8E-A2C9788C1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710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FBA5C2-75EB-03B1-EF8E-787923BE0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30CC3F-22FB-67F9-7788-79973D2BB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C20F80-3136-0027-4F5A-CE47446D5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AAC114-AE6C-0FBB-FACD-FA2E84868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348189-756B-5E4F-09E2-B6F47CA1F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C035FC-E5B1-D314-8A7F-BED365A36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15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E16703-8369-1266-B031-DC037C80E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72871F-734A-B39C-BAA6-A868A72A9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1972F0-ACEC-26AB-D9B8-6718A718F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454560-EFBC-7250-16D5-EA984C88D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B2099E3-1B0C-48DC-0915-3009A8C52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641CFEA-4398-76F4-7073-66E29943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A52FE14-8F24-D27C-3FB2-A168D5AD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FBF2DF1-9799-0C5B-8C6A-FBAE580B4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390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3FB621-B710-BEE8-9241-50C1FD27D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92D63DC-46F9-4F30-1715-83F75E889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AB452B-922B-7B80-567D-B1C8FFA65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E0C9D5-AE15-7826-0EBF-42E76E223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73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44FF4B-8B00-AD67-BDD6-5B5D277EB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E3E823-B672-5C47-1A9B-0A16AA97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DA5E42-2DC9-9A75-D8E7-21EA814B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505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28FA51-6EDE-B67A-832D-DD0A9F9BC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473595-26EF-BA47-8C23-844EA7FEA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6E19D4-ED9B-F61F-466F-C81B230FC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2000EB-43E0-8D81-4549-5F3749397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EEF975-3F6A-92F5-4CBE-838C24485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E29E8C-23BC-7A84-523C-88E4A803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27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255EB-9500-B665-219F-854698B53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0706AA8-2F92-934F-7560-442F2F55D5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5EEA36-473B-EEE4-AC61-5C54F44F6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B56D8D-E524-D7A9-47F4-EC647BF0C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4A8A28-931D-D9AC-14F4-2F0160AE9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7E4057-6E50-9CD9-64AD-A24A736C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52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7E110-3370-B95B-3D0B-183280046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676FF3-C63C-9727-270B-93FDC4979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E774D0-7E5E-0F94-A7DF-FF6ED24A4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DAFF86-1728-8381-8013-415633565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261FA2-681D-F3C7-BB0A-15FC2BB5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088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9E92CC6-0076-5165-8414-AC373BB23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3C25EB-F944-9305-52E2-DABEF3E50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809C77-3A51-AEAD-67AC-BD343A929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5BEE43-6E21-84F2-D9A9-C025DA9F7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719C0E-18BE-4DD4-4B20-90BF892D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661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782B8E-672D-0BFF-6614-D3C82687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28BC23-341B-EBF6-081A-0A467E4C3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BDACBC-87D2-9BED-A8F8-C79E63431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9E562-EC51-4C94-81AD-100460086AE6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C487F4-FE85-0452-EC12-CBE44569B5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A7865E-2D15-23C6-4B9B-E70ECB99D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899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3DF85-33C5-1836-7DE3-EAC4095BD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>
            <a:extLst>
              <a:ext uri="{FF2B5EF4-FFF2-40B4-BE49-F238E27FC236}">
                <a16:creationId xmlns:a16="http://schemas.microsoft.com/office/drawing/2014/main" id="{15767B84-05ED-BBDF-1548-E0272622B8B2}"/>
              </a:ext>
            </a:extLst>
          </p:cNvPr>
          <p:cNvGrpSpPr/>
          <p:nvPr/>
        </p:nvGrpSpPr>
        <p:grpSpPr>
          <a:xfrm>
            <a:off x="190500" y="153556"/>
            <a:ext cx="11811000" cy="972000"/>
            <a:chOff x="190500" y="190500"/>
            <a:chExt cx="11811000" cy="972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8EB3982-37CF-6752-65B5-F2CD788E92A8}"/>
                </a:ext>
              </a:extLst>
            </p:cNvPr>
            <p:cNvSpPr/>
            <p:nvPr/>
          </p:nvSpPr>
          <p:spPr>
            <a:xfrm>
              <a:off x="190500" y="190500"/>
              <a:ext cx="11811000" cy="9720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8DED4B-49D6-541A-3422-846A294AA421}"/>
                </a:ext>
              </a:extLst>
            </p:cNvPr>
            <p:cNvSpPr txBox="1"/>
            <p:nvPr/>
          </p:nvSpPr>
          <p:spPr>
            <a:xfrm>
              <a:off x="381000" y="279400"/>
              <a:ext cx="254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2026.   9.   </a:t>
              </a:r>
              <a:r>
                <a:rPr lang="en-US" altLang="ko-KR" sz="1400" dirty="0">
                  <a:solidFill>
                    <a:srgbClr val="000000"/>
                  </a:solidFill>
                  <a:latin typeface="맑은 고딕" panose="02110004020202020204"/>
                  <a:ea typeface="맑은 고딕" panose="020B0503020000020004" pitchFamily="50" charset="-127"/>
                </a:rPr>
                <a:t>21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.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90E257-74DE-0FCA-6DE0-456AA657A5B2}"/>
                </a:ext>
              </a:extLst>
            </p:cNvPr>
            <p:cNvSpPr txBox="1"/>
            <p:nvPr/>
          </p:nvSpPr>
          <p:spPr>
            <a:xfrm>
              <a:off x="2540000" y="350983"/>
              <a:ext cx="4699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수업태도 및 행동관찰부 </a:t>
              </a: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상담조사</a:t>
              </a: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]</a:t>
              </a:r>
              <a:endPara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6C406C7-6A19-BB58-A2EE-5388A5A8F64B}"/>
                </a:ext>
              </a:extLst>
            </p:cNvPr>
            <p:cNvSpPr txBox="1"/>
            <p:nvPr/>
          </p:nvSpPr>
          <p:spPr>
            <a:xfrm>
              <a:off x="7429500" y="250195"/>
              <a:ext cx="4508500" cy="26161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☐ 절도 ☐ 폭력 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■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 법   ☐ 성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&amp;</a:t>
              </a:r>
              <a:r>
                <a:rPr kumimoji="0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딥페이크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   ☐ 중독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약물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도박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)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F8E5537-4349-7025-22A8-974B7181BA7A}"/>
                </a:ext>
              </a:extLst>
            </p:cNvPr>
            <p:cNvSpPr txBox="1"/>
            <p:nvPr/>
          </p:nvSpPr>
          <p:spPr>
            <a:xfrm>
              <a:off x="7429500" y="491840"/>
              <a:ext cx="2794000" cy="25400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☐ 인성</a:t>
              </a: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(                    )</a:t>
              </a: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F18FD9F-6F36-E28B-E4D6-CE0CA7C784CE}"/>
                </a:ext>
              </a:extLst>
            </p:cNvPr>
            <p:cNvSpPr txBox="1"/>
            <p:nvPr/>
          </p:nvSpPr>
          <p:spPr>
            <a:xfrm>
              <a:off x="9271000" y="488035"/>
              <a:ext cx="1524000" cy="26161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강사명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: 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김경숙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A15EAFE-675A-D7B6-C839-8CB13165A8CF}"/>
                </a:ext>
              </a:extLst>
            </p:cNvPr>
            <p:cNvSpPr txBox="1"/>
            <p:nvPr/>
          </p:nvSpPr>
          <p:spPr>
            <a:xfrm>
              <a:off x="7878617" y="873266"/>
              <a:ext cx="4117807" cy="246221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평가항목 점수기준 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: </a:t>
              </a:r>
              <a:r>
                <a:rPr kumimoji="0" lang="ko-KR" altLang="en-US" sz="1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매우양호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(5)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양호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(4)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보통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(3)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미흡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(2) </a:t>
              </a:r>
              <a:r>
                <a:rPr kumimoji="0" lang="ko-KR" altLang="en-US" sz="1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매우미흡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(1)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31B2F1DD-6E7B-1FF6-A468-9B4FD303658E}"/>
                </a:ext>
              </a:extLst>
            </p:cNvPr>
            <p:cNvSpPr/>
            <p:nvPr/>
          </p:nvSpPr>
          <p:spPr>
            <a:xfrm>
              <a:off x="7296150" y="190500"/>
              <a:ext cx="12700" cy="648000"/>
            </a:xfrm>
            <a:prstGeom prst="rect">
              <a:avLst/>
            </a:prstGeom>
            <a:solidFill>
              <a:srgbClr val="00000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3F152020-A1AD-47B0-F352-1869E92DCF8C}"/>
                </a:ext>
              </a:extLst>
            </p:cNvPr>
            <p:cNvSpPr/>
            <p:nvPr/>
          </p:nvSpPr>
          <p:spPr>
            <a:xfrm>
              <a:off x="190500" y="836473"/>
              <a:ext cx="11811000" cy="12700"/>
            </a:xfrm>
            <a:prstGeom prst="rect">
              <a:avLst/>
            </a:prstGeom>
            <a:solidFill>
              <a:srgbClr val="00000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1927E91-51F7-6AD2-6178-0469220F6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793685"/>
              </p:ext>
            </p:extLst>
          </p:nvPr>
        </p:nvGraphicFramePr>
        <p:xfrm>
          <a:off x="191250" y="1172191"/>
          <a:ext cx="11809500" cy="18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7">
                  <a:extLst>
                    <a:ext uri="{9D8B030D-6E8A-4147-A177-3AD203B41FA5}">
                      <a16:colId xmlns:a16="http://schemas.microsoft.com/office/drawing/2014/main" val="3678355894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159038846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97578930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2390880758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234189224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016427840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009065295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286586133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63817030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36267634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3054047362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787567326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838538583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396106417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8800709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4245658938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043559936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866486931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294764149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459479861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239080584"/>
                    </a:ext>
                  </a:extLst>
                </a:gridCol>
              </a:tblGrid>
              <a:tr h="324000"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50929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상점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발표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과제수행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자세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경청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예의범절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성실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상점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발표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과제수행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자세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경청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예의범절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성실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상점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발표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과제수행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자세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경청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예의범절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성실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7689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234188"/>
                  </a:ext>
                </a:extLst>
              </a:tr>
              <a:tr h="1080000"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050" dirty="0"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1050" dirty="0">
                          <a:latin typeface="+mn-ea"/>
                          <a:ea typeface="+mn-ea"/>
                        </a:rPr>
                        <a:t>}}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marL="144000" marR="144000" marT="72000" marB="72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{{</a:t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}}</a:t>
                      </a:r>
                      <a:endParaRPr lang="ko-KR" altLang="en-US" sz="105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1219170" rtl="0" eaLnBrk="1" latinLnBrk="1" hangingPunct="1"/>
                      <a:endParaRPr lang="ko-KR" altLang="en-US" sz="105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44000" marR="144000" marT="72000" marB="72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{{</a:t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}}</a:t>
                      </a:r>
                      <a:endParaRPr lang="ko-KR" altLang="en-US" sz="105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1219170" rtl="0" eaLnBrk="1" latinLnBrk="1" hangingPunct="1"/>
                      <a:endParaRPr lang="ko-KR" altLang="en-US" sz="105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44000" marR="144000" marT="72000" marB="72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604724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A4E26AB4-DEB2-8E9C-E75C-1973C6606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113277"/>
              </p:ext>
            </p:extLst>
          </p:nvPr>
        </p:nvGraphicFramePr>
        <p:xfrm>
          <a:off x="191250" y="3069706"/>
          <a:ext cx="11809500" cy="18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7">
                  <a:extLst>
                    <a:ext uri="{9D8B030D-6E8A-4147-A177-3AD203B41FA5}">
                      <a16:colId xmlns:a16="http://schemas.microsoft.com/office/drawing/2014/main" val="3678355894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159038846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97578930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2390880758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234189224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016427840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009065295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286586133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63817030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36267634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3054047362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787567326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838538583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396106417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8800709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4245658938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043559936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866486931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294764149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459479861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239080584"/>
                    </a:ext>
                  </a:extLst>
                </a:gridCol>
              </a:tblGrid>
              <a:tr h="324000"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50929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상점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발표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과제수행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자세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경청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예의범절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성실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상점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발표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과제수행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자세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경청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예의범절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성실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상점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발표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과제수행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자세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경청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예의범절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성실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7689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234188"/>
                  </a:ext>
                </a:extLst>
              </a:tr>
              <a:tr h="1080000"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050" dirty="0"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1050" dirty="0">
                          <a:latin typeface="+mn-ea"/>
                          <a:ea typeface="+mn-ea"/>
                        </a:rPr>
                        <a:t>}}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marL="144000" marR="144000" marT="72000" marB="72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{{</a:t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}}</a:t>
                      </a:r>
                      <a:endParaRPr lang="ko-KR" altLang="en-US" sz="105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1219170" rtl="0" eaLnBrk="1" latinLnBrk="1" hangingPunct="1"/>
                      <a:endParaRPr lang="ko-KR" altLang="en-US" sz="105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44000" marR="144000" marT="72000" marB="72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{{</a:t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}}</a:t>
                      </a:r>
                      <a:endParaRPr lang="ko-KR" altLang="en-US" sz="105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1219170" rtl="0" eaLnBrk="1" latinLnBrk="1" hangingPunct="1"/>
                      <a:endParaRPr lang="ko-KR" altLang="en-US" sz="105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44000" marR="144000" marT="72000" marB="72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604724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C0E8EA87-7C17-13C6-0759-D91973665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711822"/>
              </p:ext>
            </p:extLst>
          </p:nvPr>
        </p:nvGraphicFramePr>
        <p:xfrm>
          <a:off x="191250" y="4935724"/>
          <a:ext cx="11809500" cy="18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7">
                  <a:extLst>
                    <a:ext uri="{9D8B030D-6E8A-4147-A177-3AD203B41FA5}">
                      <a16:colId xmlns:a16="http://schemas.microsoft.com/office/drawing/2014/main" val="3678355894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159038846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97578930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2390880758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234189224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016427840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009065295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286586133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63817030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36267634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3054047362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787567326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838538583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396106417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8800709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4245658938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043559936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866486931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294764149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459479861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239080584"/>
                    </a:ext>
                  </a:extLst>
                </a:gridCol>
              </a:tblGrid>
              <a:tr h="324000"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50929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상점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발표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과제수행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자세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경청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예의범절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성실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상점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발표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과제수행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자세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경청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예의범절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성실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상점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발표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과제수행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자세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경청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예의범절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00" baseline="0" dirty="0"/>
                        <a:t>성실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7689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234188"/>
                  </a:ext>
                </a:extLst>
              </a:tr>
              <a:tr h="1080000"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050" dirty="0"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1050" dirty="0">
                          <a:latin typeface="+mn-ea"/>
                          <a:ea typeface="+mn-ea"/>
                        </a:rPr>
                        <a:t>}}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marL="144000" marR="144000" marT="72000" marB="72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{{</a:t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}}</a:t>
                      </a:r>
                      <a:endParaRPr lang="ko-KR" altLang="en-US" sz="105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1219170" rtl="0" eaLnBrk="1" latinLnBrk="1" hangingPunct="1"/>
                      <a:endParaRPr lang="ko-KR" altLang="en-US" sz="105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44000" marR="144000" marT="72000" marB="72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{{</a:t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}}</a:t>
                      </a:r>
                      <a:endParaRPr lang="ko-KR" altLang="en-US" sz="105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1219170" rtl="0" eaLnBrk="1" latinLnBrk="1" hangingPunct="1"/>
                      <a:endParaRPr lang="ko-KR" altLang="en-US" sz="105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44000" marR="144000" marT="72000" marB="72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604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347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90FC3AB-0268-45EF-AE0B-CEBF50B5509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79e73022-936e-4817-9078-3698ad104bd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176</Words>
  <Application>Microsoft Office PowerPoint</Application>
  <PresentationFormat>와이드스크린</PresentationFormat>
  <Paragraphs>87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sanghyun Sim</dc:creator>
  <cp:lastModifiedBy>sanghyun Sim</cp:lastModifiedBy>
  <cp:revision>37</cp:revision>
  <dcterms:created xsi:type="dcterms:W3CDTF">2026-07-20T11:13:27Z</dcterms:created>
  <dcterms:modified xsi:type="dcterms:W3CDTF">2026-09-22T01:31:33Z</dcterms:modified>
</cp:coreProperties>
</file>